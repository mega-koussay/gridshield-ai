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4A3B8"/>
                </a:solidFill>
              </a:rPr>
              <a:t>GRIDSHIELD AI   ·   01/10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2E8F0"/>
                </a:solidFill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8BDF8"/>
                </a:solidFill>
              </a:rPr>
              <a:t>The grid's sensors can lie — and operators act on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5176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94A3B8"/>
                </a:solidFill>
              </a:rPr>
              <a:t>▸  Millions of smart meters, inverters and SCADA nodes = millions of entry points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94A3B8"/>
                </a:solidFill>
              </a:rPr>
              <a:t>▸  A false-data injection skews what operators see; a hijacked command skews what they do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94A3B8"/>
                </a:solidFill>
              </a:rPr>
              <a:t>▸  Energy tools trust all data; security tools don't understand energy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EF4444"/>
                </a:solidFill>
              </a:rPr>
              <a:t>▸  Wrong dispatch, avoidable imports, blackouts — discovered too 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4A3B8"/>
                </a:solidFill>
              </a:rPr>
              <a:t>GRIDSHIELD AI   ·   02/10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2E8F0"/>
                </a:solidFill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8BDF8"/>
                </a:solidFill>
              </a:rPr>
              <a:t>GridShield AI: predict, protect, optimize — through attacks.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5176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E2E8F0"/>
                </a:solidFill>
              </a:rPr>
              <a:t>▸  Live digital twin of a solar + battery campus microgrid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E2E8F0"/>
                </a:solidFill>
              </a:rPr>
              <a:t>▸  AI detects when data lies, explains why, isolates the traitor device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2C55E"/>
                </a:solidFill>
              </a:rPr>
              <a:t>▸  Keeps operating on reconstructed trusted values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2C55E"/>
                </a:solidFill>
              </a:rPr>
              <a:t>▸  Re-optimizes the battery in seconds — resilience, not just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4A3B8"/>
                </a:solidFill>
              </a:rPr>
              <a:t>GRIDSHIELD AI   ·   03/10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2E8F0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8BDF8"/>
                </a:solidFill>
              </a:rPr>
              <a:t>Twin → AI → response, in one 1-second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5176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E2E8F0"/>
                </a:solidFill>
              </a:rPr>
              <a:t>▸  Twin: deterministic physics, 5-min steps — solar, battery, grid, 6 buildings, SCADA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E2E8F0"/>
                </a:solidFill>
              </a:rPr>
              <a:t>▸  AI: forecasters → 5-channel hybrid detector → classifier → explanations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2C55E"/>
                </a:solidFill>
              </a:rPr>
              <a:t>▸  Response: isolate → reconstruct → MPC re-solve → audit log → re-admit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38BDF8"/>
                </a:solidFill>
              </a:rPr>
              <a:t>▸  FastAPI + WebSocket backend, React dashboard — runs on a laptop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4A3B8"/>
                </a:solidFill>
              </a:rPr>
              <a:t>GRIDSHIELD AI   ·   04/10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2E8F0"/>
                </a:solidFill>
              </a:rPr>
              <a:t>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8BDF8"/>
                </a:solidFill>
              </a:rPr>
              <a:t>Two data planes — the core trick.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5176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F59E0B"/>
                </a:solidFill>
              </a:rPr>
              <a:t>▸  RAW plane = exactly what SCADA sees (attacked)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2C55E"/>
                </a:solidFill>
              </a:rPr>
              <a:t>▸  TRUSTED plane = what the AI forecasts and controls with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E2E8F0"/>
                </a:solidFill>
              </a:rPr>
              <a:t>▸  Attacks corrupt the view, never the physics — like real FDI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E2E8F0"/>
                </a:solidFill>
              </a:rPr>
              <a:t>▸  Twin + attacks + detection in one loop = measurable resilience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4A3B8"/>
                </a:solidFill>
              </a:rPr>
              <a:t>GRIDSHIELD AI   ·   05/10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2E8F0"/>
                </a:solidFill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8BDF8"/>
                </a:solidFill>
              </a:rPr>
              <a:t>Lightweight models, calibrated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5176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E2E8F0"/>
                </a:solidFill>
              </a:rPr>
              <a:t>▸  Forecast: solar 10.3 kW / demand 7.1 kW MAE — trained in &lt;1 s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E2E8F0"/>
                </a:solidFill>
              </a:rPr>
              <a:t>▸  Detect: 5 evidence channels incl. control-plane consistency — the battery must obey the defender's plan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2C55E"/>
                </a:solidFill>
              </a:rPr>
              <a:t>▸  Threshold calibrated at P99.5 of clean traffic → 0.5% false positives by construction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2C55E"/>
                </a:solidFill>
              </a:rPr>
              <a:t>▸  Measured: precision 1.00 · first alert in 1 step · 5/5 attack classes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4A3B8"/>
                </a:solidFill>
              </a:rPr>
              <a:t>GRIDSHIELD AI   ·   06/10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2E8F0"/>
                </a:solidFill>
              </a:rPr>
              <a:t>Cyber defense —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8BDF8"/>
                </a:solidFill>
              </a:rPr>
              <a:t>One click, full 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5176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F59E0B"/>
                </a:solidFill>
              </a:rPr>
              <a:t>▸  FDI_BULK launches; metered load jumps +35% — physics untouched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E2E8F0"/>
                </a:solidFill>
              </a:rPr>
              <a:t>▸  ATTACK → DETECTION → EXPLANATION → DEFENSE → RECONSTRUCTION → RE-OPTIMIZATION → RECOVERY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E2E8F0"/>
                </a:solidFill>
              </a:rPr>
              <a:t>▸  Jury-readable explanations: reasons, evidence, threshold, attributions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38BDF8"/>
                </a:solidFill>
              </a:rPr>
              <a:t>▸  Same seed ⇒ identical run, every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4A3B8"/>
                </a:solidFill>
              </a:rPr>
              <a:t>GRIDSHIELD AI   ·   07/10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2E8F0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8BDF8"/>
                </a:solidFill>
              </a:rPr>
              <a:t>Measured, reproducible — never invented.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5176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2C55E"/>
                </a:solidFill>
              </a:rPr>
              <a:t>▸  Detection: precision 1.00 · FPR 0.5% · latency 1 step (all 5 attack classes)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2C55E"/>
                </a:solidFill>
              </a:rPr>
              <a:t>▸  Response: hijack exposure 25 → 5 min; battery deviation −80%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E2E8F0"/>
                </a:solidFill>
              </a:rPr>
              <a:t>▸  Federated FedAvg: global MAE 7.06 kW = centralized baseline, zero raw data shared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38BDF8"/>
                </a:solidFill>
              </a:rPr>
              <a:t>▸  34 tests green; every number from scripts/run_experiments.py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4A3B8"/>
                </a:solidFill>
              </a:rPr>
              <a:t>GRIDSHIELD AI   ·   08/10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2E8F0"/>
                </a:solidFill>
              </a:rPr>
              <a:t>Impact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8BDF8"/>
                </a:solidFill>
              </a:rPr>
              <a:t>From campus to feeder.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5176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E2E8F0"/>
                </a:solidFill>
              </a:rPr>
              <a:t>▸  Users: campuses, distribution operators, industrial parks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E2E8F0"/>
                </a:solidFill>
              </a:rPr>
              <a:t>▸  Value: corrupted-decision minutes avoided; battery assets protected; audit trail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38BDF8"/>
                </a:solidFill>
              </a:rPr>
              <a:t>▸  Deploy: same data contract against a real historian; per-feeder detectors; ms per tick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2C55E"/>
                </a:solidFill>
              </a:rPr>
              <a:t>▸  Societal: automation that explains itself in critical infrastructure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4A3B8"/>
                </a:solidFill>
              </a:rPr>
              <a:t>GRIDSHIELD AI   ·   09/10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2E8F0"/>
                </a:solidFill>
              </a:rPr>
              <a:t>Innovation &amp; bonus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8BDF8"/>
                </a:solidFill>
              </a:rPr>
              <a:t>All five target areas addressed.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5176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2C55E"/>
                </a:solidFill>
              </a:rPr>
              <a:t>▸  Digital twin with two data planes  ✓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2C55E"/>
                </a:solidFill>
              </a:rPr>
              <a:t>▸  Explainable AI on every alert  ✓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2C55E"/>
                </a:solidFill>
              </a:rPr>
              <a:t>▸  Live cyberattack demonstration (local, safe)  ✓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2C55E"/>
                </a:solidFill>
              </a:rPr>
              <a:t>▸  Federated learning FedAvg PoC — weights only  ✓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59E0B"/>
                </a:solidFill>
              </a:rPr>
              <a:t>▸  Control-plane detection channel — catches what telemetry-only detectors miss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4A3B8"/>
                </a:solidFill>
              </a:rPr>
              <a:t>GRIDSHIELD AI   ·   10/10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2E8F0"/>
                </a:solidFill>
              </a:rPr>
              <a:t>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8BDF8"/>
                </a:solidFill>
              </a:rPr>
              <a:t>Predict. Protect. Optimize.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5176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E2E8F0"/>
                </a:solidFill>
              </a:rPr>
              <a:t>▸  Next: real SCADA ingestion (IEC 61850) · probabilistic forecasts · SHAP in production · federated detection · hardware-in-the-loop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2C55E"/>
                </a:solidFill>
              </a:rPr>
              <a:t>▸  The detect → explain → contain → reconstruct → optimize loop is ready today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38BDF8"/>
                </a:solidFill>
              </a:rPr>
              <a:t>▸  GridShield AI — trustworthy energy automation under attack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IEEE SmartSecureGrid Challenge 2026 — Proof of Concept (video excluded from repo; recorded separately)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